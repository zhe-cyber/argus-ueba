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211300" cy="20104100"/>
  <p:notesSz cx="142113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1A4DB1-B574-4701-8B2D-BDFB46DCC2D1}" v="1" dt="2026-05-30T14:58:50.41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3096" y="-588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p Zhe Cheng" userId="b33748b8b70fea7f" providerId="LiveId" clId="{BEE37422-B13C-4840-95E0-39A016ECD726}"/>
    <pc:docChg chg="modSld">
      <pc:chgData name="Yap Zhe Cheng" userId="b33748b8b70fea7f" providerId="LiveId" clId="{BEE37422-B13C-4840-95E0-39A016ECD726}" dt="2026-05-30T15:12:07.424" v="0" actId="1076"/>
      <pc:docMkLst>
        <pc:docMk/>
      </pc:docMkLst>
      <pc:sldChg chg="modSp mod">
        <pc:chgData name="Yap Zhe Cheng" userId="b33748b8b70fea7f" providerId="LiveId" clId="{BEE37422-B13C-4840-95E0-39A016ECD726}" dt="2026-05-30T15:12:07.424" v="0" actId="1076"/>
        <pc:sldMkLst>
          <pc:docMk/>
          <pc:sldMk cId="0" sldId="256"/>
        </pc:sldMkLst>
        <pc:spChg chg="mod">
          <ac:chgData name="Yap Zhe Cheng" userId="b33748b8b70fea7f" providerId="LiveId" clId="{BEE37422-B13C-4840-95E0-39A016ECD726}" dt="2026-05-30T15:12:07.424" v="0" actId="1076"/>
          <ac:spMkLst>
            <pc:docMk/>
            <pc:sldMk cId="0" sldId="256"/>
            <ac:spMk id="5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5847" y="6232271"/>
            <a:ext cx="12079605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31695" y="11258296"/>
            <a:ext cx="9947910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10565" y="4623943"/>
            <a:ext cx="618191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18819" y="4623943"/>
            <a:ext cx="618191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5"/>
            <a:ext cx="14208246" cy="2010283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0565" y="804164"/>
            <a:ext cx="12790170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0565" y="4623943"/>
            <a:ext cx="1279017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31842" y="18696814"/>
            <a:ext cx="4547616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10565" y="18696814"/>
            <a:ext cx="3268599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32136" y="18696814"/>
            <a:ext cx="3268599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object 50"/>
          <p:cNvSpPr txBox="1"/>
          <p:nvPr/>
        </p:nvSpPr>
        <p:spPr>
          <a:xfrm>
            <a:off x="4994210" y="412139"/>
            <a:ext cx="4590014" cy="41934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t>UM iFEST 2026  ·  UG FYP</a:t>
            </a:r>
            <a:endParaRPr sz="2650" i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51" name="object 5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3096" y="0"/>
            <a:ext cx="4485149" cy="2252654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502920" y="1024128"/>
            <a:ext cx="13205460" cy="1965960"/>
          </a:xfrm>
          <a:prstGeom prst="roundRect">
            <a:avLst/>
          </a:prstGeom>
          <a:solidFill>
            <a:srgbClr val="4B2E83"/>
          </a:solidFill>
          <a:ln w="19050">
            <a:solidFill>
              <a:srgbClr val="6A3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Cloud-Native UEBA Platform for Insider Threat Detection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3D8F5"/>
                </a:solidFill>
                <a:latin typeface="Calibri"/>
              </a:rPr>
              <a:t>Unsupervised, explainable anomaly detection across four real cloud log sources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3108960"/>
            <a:ext cx="1320546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22228"/>
                </a:solidFill>
                <a:latin typeface="Calibri"/>
              </a:rPr>
              <a:t>Yap Zhe Cheng  (23004982)      ·      Supervisor: Firdaus Sahran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5555E"/>
                </a:solidFill>
                <a:latin typeface="Calibri"/>
              </a:rPr>
              <a:t>Faculty of Computer Science and Information Technology, Universiti Malaya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4160520"/>
            <a:ext cx="6355080" cy="566928"/>
          </a:xfrm>
          <a:prstGeom prst="round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  INTRODUCTION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745" y="4873371"/>
            <a:ext cx="6355080" cy="3657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just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 dirty="0">
                <a:solidFill>
                  <a:srgbClr val="222228"/>
                </a:solidFill>
                <a:latin typeface="Calibri"/>
              </a:rPr>
              <a:t>Insider threats drive ~60% of breaches and cost </a:t>
            </a:r>
            <a:r>
              <a:rPr sz="1550" b="0" i="0" dirty="0" err="1">
                <a:solidFill>
                  <a:srgbClr val="222228"/>
                </a:solidFill>
                <a:latin typeface="Calibri"/>
              </a:rPr>
              <a:t>organisations</a:t>
            </a:r>
            <a:r>
              <a:rPr sz="1550" b="0" i="0" dirty="0">
                <a:solidFill>
                  <a:srgbClr val="222228"/>
                </a:solidFill>
                <a:latin typeface="Calibri"/>
              </a:rPr>
              <a:t> an average of USD 17.4 million per year. Because insiders act with legitimate credentials, signature-based </a:t>
            </a:r>
            <a:r>
              <a:rPr sz="1550" b="0" i="0" dirty="0" err="1">
                <a:solidFill>
                  <a:srgbClr val="222228"/>
                </a:solidFill>
                <a:latin typeface="Calibri"/>
              </a:rPr>
              <a:t>defences</a:t>
            </a:r>
            <a:r>
              <a:rPr sz="1550" b="0" i="0" dirty="0">
                <a:solidFill>
                  <a:srgbClr val="222228"/>
                </a:solidFill>
                <a:latin typeface="Calibri"/>
              </a:rPr>
              <a:t> are structurally blind to them.</a:t>
            </a:r>
          </a:p>
          <a:p>
            <a:pPr algn="just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 dirty="0">
                <a:solidFill>
                  <a:srgbClr val="222228"/>
                </a:solidFill>
                <a:latin typeface="Calibri"/>
              </a:rPr>
              <a:t>Existing open-source UEBA tools (</a:t>
            </a:r>
            <a:r>
              <a:rPr sz="1550" b="0" i="0" dirty="0" err="1">
                <a:solidFill>
                  <a:srgbClr val="222228"/>
                </a:solidFill>
                <a:latin typeface="Calibri"/>
              </a:rPr>
              <a:t>Wazuh</a:t>
            </a:r>
            <a:r>
              <a:rPr sz="1550" b="0" i="0" dirty="0">
                <a:solidFill>
                  <a:srgbClr val="222228"/>
                </a:solidFill>
                <a:latin typeface="Calibri"/>
              </a:rPr>
              <a:t>, </a:t>
            </a:r>
            <a:r>
              <a:rPr sz="1550" b="0" i="0" dirty="0" err="1">
                <a:solidFill>
                  <a:srgbClr val="222228"/>
                </a:solidFill>
                <a:latin typeface="Calibri"/>
              </a:rPr>
              <a:t>OpenUBA</a:t>
            </a:r>
            <a:r>
              <a:rPr sz="1550" b="0" i="0" dirty="0">
                <a:solidFill>
                  <a:srgbClr val="222228"/>
                </a:solidFill>
                <a:latin typeface="Calibri"/>
              </a:rPr>
              <a:t>, HELK) are rule-based, single-source, and opaque — they cannot explain why a user is flagged. This project closes four gaps at once: multi-cloud </a:t>
            </a:r>
            <a:r>
              <a:rPr sz="1550" b="0" i="0" dirty="0" err="1">
                <a:solidFill>
                  <a:srgbClr val="222228"/>
                </a:solidFill>
                <a:latin typeface="Calibri"/>
              </a:rPr>
              <a:t>normalisation</a:t>
            </a:r>
            <a:r>
              <a:rPr sz="1550" b="0" i="0" dirty="0">
                <a:solidFill>
                  <a:srgbClr val="222228"/>
                </a:solidFill>
                <a:latin typeface="Calibri"/>
              </a:rPr>
              <a:t>, adaptive baselining, label-free detection, and per-alert explainability.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6940296"/>
            <a:ext cx="6355080" cy="566928"/>
          </a:xfrm>
          <a:prstGeom prst="round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  OBJECTIVES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7616951"/>
            <a:ext cx="6355080" cy="3657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just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 dirty="0">
                <a:solidFill>
                  <a:srgbClr val="222228"/>
                </a:solidFill>
                <a:latin typeface="Calibri"/>
              </a:rPr>
              <a:t>•  </a:t>
            </a:r>
            <a:r>
              <a:rPr sz="1550" b="0" i="0" dirty="0" err="1">
                <a:solidFill>
                  <a:srgbClr val="222228"/>
                </a:solidFill>
                <a:latin typeface="Calibri"/>
              </a:rPr>
              <a:t>Normalise</a:t>
            </a:r>
            <a:r>
              <a:rPr sz="1550" b="0" i="0" dirty="0">
                <a:solidFill>
                  <a:srgbClr val="222228"/>
                </a:solidFill>
                <a:latin typeface="Calibri"/>
              </a:rPr>
              <a:t> heterogeneous multi-cloud logs into one unified 8-field schema.</a:t>
            </a:r>
          </a:p>
          <a:p>
            <a:pPr algn="just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 dirty="0">
                <a:solidFill>
                  <a:srgbClr val="222228"/>
                </a:solidFill>
                <a:latin typeface="Calibri"/>
              </a:rPr>
              <a:t>•  Detect insider </a:t>
            </a:r>
            <a:r>
              <a:rPr sz="1550" b="0" i="0" dirty="0" err="1">
                <a:solidFill>
                  <a:srgbClr val="222228"/>
                </a:solidFill>
                <a:latin typeface="Calibri"/>
              </a:rPr>
              <a:t>behaviour</a:t>
            </a:r>
            <a:r>
              <a:rPr sz="1550" b="0" i="0" dirty="0">
                <a:solidFill>
                  <a:srgbClr val="222228"/>
                </a:solidFill>
                <a:latin typeface="Calibri"/>
              </a:rPr>
              <a:t> with unsupervised models — no labelled attacks.</a:t>
            </a:r>
          </a:p>
          <a:p>
            <a:pPr algn="just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 dirty="0">
                <a:solidFill>
                  <a:srgbClr val="222228"/>
                </a:solidFill>
                <a:latin typeface="Calibri"/>
              </a:rPr>
              <a:t>•  Explain every alert via SHAP attribution and an LLM analyst assistant.</a:t>
            </a:r>
          </a:p>
          <a:p>
            <a:pPr algn="just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 dirty="0">
                <a:solidFill>
                  <a:srgbClr val="222228"/>
                </a:solidFill>
                <a:latin typeface="Calibri"/>
              </a:rPr>
              <a:t>•  Evaluate against the CERT r4.2 insider-threat benchmark and real cloud data.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9308591"/>
            <a:ext cx="6355080" cy="566928"/>
          </a:xfrm>
          <a:prstGeom prst="round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  METHODOLOGY  —  SYSTEM ARCHITECTURE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9985247"/>
            <a:ext cx="6355080" cy="3657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just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22228"/>
                </a:solidFill>
                <a:latin typeface="Calibri"/>
              </a:rPr>
              <a:t>A decoupled, layered pipeline: source-specific parsers feed one schema; per-user behavioural features and peer-group baselines feed two Autoencoders; SHAP and an LLM explain each score on a React dashboard, deployed via Docker + HuggingFace.</a:t>
            </a:r>
          </a:p>
        </p:txBody>
      </p:sp>
      <p:pic>
        <p:nvPicPr>
          <p:cNvPr id="60" name="Picture 59" descr="architecture_log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10853927"/>
            <a:ext cx="6126480" cy="599530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02920" y="16885808"/>
            <a:ext cx="6355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5555E"/>
                </a:solidFill>
                <a:latin typeface="Calibri"/>
              </a:rPr>
              <a:t>Fig. 1.  Layered pipeline: ingestion → features → detection → explainability → dashboard.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269480" y="4160520"/>
            <a:ext cx="6355080" cy="566928"/>
          </a:xfrm>
          <a:prstGeom prst="round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  RESULTS  &amp;  DISCUSSION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7269480" y="4837176"/>
          <a:ext cx="63550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50" b="1" dirty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45720" marT="18288" marB="18288"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AUROC</a:t>
                      </a:r>
                    </a:p>
                  </a:txBody>
                  <a:tcPr marL="73152" marR="45720" marT="18288" marB="18288"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AUPRC</a:t>
                      </a:r>
                    </a:p>
                  </a:txBody>
                  <a:tcPr marL="73152" marR="45720" marT="18288" marB="18288"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45720" marT="18288" marB="18288"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222228"/>
                          </a:solidFill>
                          <a:latin typeface="Calibri"/>
                        </a:rPr>
                        <a:t>Autoencoder (final)</a:t>
                      </a:r>
                    </a:p>
                  </a:txBody>
                  <a:tcPr marL="73152" marR="45720" marT="18288" marB="18288" anchor="ctr"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22228"/>
                          </a:solidFill>
                          <a:latin typeface="Calibri"/>
                        </a:rPr>
                        <a:t>0.976</a:t>
                      </a:r>
                    </a:p>
                  </a:txBody>
                  <a:tcPr marL="73152" marR="45720" marT="18288" marB="18288" anchor="ctr"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22228"/>
                          </a:solidFill>
                          <a:latin typeface="Calibri"/>
                        </a:rPr>
                        <a:t>0.851</a:t>
                      </a:r>
                    </a:p>
                  </a:txBody>
                  <a:tcPr marL="73152" marR="45720" marT="18288" marB="18288" anchor="ctr">
                    <a:solidFill>
                      <a:srgbClr val="F2EE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22228"/>
                          </a:solidFill>
                          <a:latin typeface="Calibri"/>
                        </a:rPr>
                        <a:t>0.787</a:t>
                      </a:r>
                    </a:p>
                  </a:txBody>
                  <a:tcPr marL="73152" marR="45720" marT="18288" marB="18288" anchor="ctr">
                    <a:solidFill>
                      <a:srgbClr val="F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228"/>
                          </a:solidFill>
                          <a:latin typeface="Calibri"/>
                        </a:rPr>
                        <a:t>Weighted IF+AE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8"/>
                          </a:solidFill>
                          <a:latin typeface="Calibri"/>
                        </a:rPr>
                        <a:t>0.951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8"/>
                          </a:solidFill>
                          <a:latin typeface="Calibri"/>
                        </a:rPr>
                        <a:t>0.740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8"/>
                          </a:solidFill>
                          <a:latin typeface="Calibri"/>
                        </a:rPr>
                        <a:t>0.726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228"/>
                          </a:solidFill>
                          <a:latin typeface="Calibri"/>
                        </a:rPr>
                        <a:t>Isolation Forest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8"/>
                          </a:solidFill>
                          <a:latin typeface="Calibri"/>
                        </a:rPr>
                        <a:t>0.860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8"/>
                          </a:solidFill>
                          <a:latin typeface="Calibri"/>
                        </a:rPr>
                        <a:t>0.206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8"/>
                          </a:solidFill>
                          <a:latin typeface="Calibri"/>
                        </a:rPr>
                        <a:t>0.379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228"/>
                          </a:solidFill>
                          <a:latin typeface="Calibri"/>
                        </a:rPr>
                        <a:t>Rule-based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8"/>
                          </a:solidFill>
                          <a:latin typeface="Calibri"/>
                        </a:rPr>
                        <a:t>0.859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22228"/>
                          </a:solidFill>
                          <a:latin typeface="Calibri"/>
                        </a:rPr>
                        <a:t>0.207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 dirty="0">
                          <a:solidFill>
                            <a:srgbClr val="222228"/>
                          </a:solidFill>
                          <a:latin typeface="Calibri"/>
                        </a:rPr>
                        <a:t>0.367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7269480" y="6647688"/>
            <a:ext cx="6355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 dirty="0">
                <a:solidFill>
                  <a:srgbClr val="55555E"/>
                </a:solidFill>
                <a:latin typeface="Calibri"/>
              </a:rPr>
              <a:t>Table 1.  Detector performance on CERT r4.2 (1,000 users, 70 insiders).</a:t>
            </a:r>
          </a:p>
        </p:txBody>
      </p:sp>
      <p:pic>
        <p:nvPicPr>
          <p:cNvPr id="65" name="Picture 64" descr="r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579" y="7013448"/>
            <a:ext cx="4754880" cy="386334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7269480" y="10895076"/>
            <a:ext cx="6355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5555E"/>
                </a:solidFill>
                <a:latin typeface="Calibri"/>
              </a:rPr>
              <a:t>Fig. 2.  ROC curves — Autoencoder vs. baselines.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9480" y="11242548"/>
            <a:ext cx="6355080" cy="3657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just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222228"/>
                </a:solidFill>
                <a:latin typeface="Calibri"/>
              </a:rPr>
              <a:t>The label-free Autoencoder reaches ~90% of supervised accuracy (AUROC 0.976) and decisively beats rule and isolation baselines. A live-replay harness confirms the deployed /ingest path preserves this ranking (AUROC 0.917); on real flaws.cloud AWS data the cloud model reaches AUROC 0.724 against privilege-escalation attacks.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269480" y="13025628"/>
            <a:ext cx="6355080" cy="566928"/>
          </a:xfrm>
          <a:prstGeom prst="round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  CONCLUSIONS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69480" y="13702283"/>
            <a:ext cx="6355080" cy="3657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just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 dirty="0">
                <a:solidFill>
                  <a:srgbClr val="222228"/>
                </a:solidFill>
                <a:latin typeface="Calibri"/>
              </a:rPr>
              <a:t>•  An unsupervised Autoencoder detects insiders at near-supervised accuracy with no labels.</a:t>
            </a:r>
          </a:p>
          <a:p>
            <a:pPr algn="just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 dirty="0">
                <a:solidFill>
                  <a:srgbClr val="222228"/>
                </a:solidFill>
                <a:latin typeface="Calibri"/>
              </a:rPr>
              <a:t>•  Four real cloud sources unified; SHAP + LLM make every alert explainable.</a:t>
            </a:r>
          </a:p>
          <a:p>
            <a:pPr algn="just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 dirty="0">
                <a:solidFill>
                  <a:srgbClr val="222228"/>
                </a:solidFill>
                <a:latin typeface="Calibri"/>
              </a:rPr>
              <a:t>•  Deployed live (Docker + </a:t>
            </a:r>
            <a:r>
              <a:rPr sz="1550" b="0" i="0" dirty="0" err="1">
                <a:solidFill>
                  <a:srgbClr val="222228"/>
                </a:solidFill>
                <a:latin typeface="Calibri"/>
              </a:rPr>
              <a:t>HuggingFace</a:t>
            </a:r>
            <a:r>
              <a:rPr sz="1550" b="0" i="0" dirty="0">
                <a:solidFill>
                  <a:srgbClr val="222228"/>
                </a:solidFill>
                <a:latin typeface="Calibri"/>
              </a:rPr>
              <a:t> Space + </a:t>
            </a:r>
            <a:r>
              <a:rPr sz="1550" b="0" i="0" dirty="0" err="1">
                <a:solidFill>
                  <a:srgbClr val="222228"/>
                </a:solidFill>
                <a:latin typeface="Calibri"/>
              </a:rPr>
              <a:t>Vercel</a:t>
            </a:r>
            <a:r>
              <a:rPr sz="1550" b="0" i="0" dirty="0">
                <a:solidFill>
                  <a:srgbClr val="222228"/>
                </a:solidFill>
                <a:latin typeface="Calibri"/>
              </a:rPr>
              <a:t>).</a:t>
            </a:r>
          </a:p>
          <a:p>
            <a:pPr algn="just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 dirty="0">
                <a:solidFill>
                  <a:srgbClr val="222228"/>
                </a:solidFill>
                <a:latin typeface="Calibri"/>
              </a:rPr>
              <a:t>•  Future: Transformer sequence model, MITRE ATT&amp;CK mapping, streaming ingestion.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269480" y="15485363"/>
            <a:ext cx="6355080" cy="566928"/>
          </a:xfrm>
          <a:prstGeom prst="round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  REFERENCES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69480" y="16162020"/>
            <a:ext cx="6355080" cy="3657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 dirty="0">
                <a:solidFill>
                  <a:srgbClr val="222228"/>
                </a:solidFill>
                <a:latin typeface="Calibri"/>
              </a:rPr>
              <a:t>Inayat et al. (2024). Insider threat mitigation: systematic review. Ain Shams Eng. J.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 dirty="0">
                <a:solidFill>
                  <a:srgbClr val="222228"/>
                </a:solidFill>
                <a:latin typeface="Calibri"/>
              </a:rPr>
              <a:t>Kotb et al. (2025). Deep synthesis-based insider intrusion detection. Sci. Reports.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 dirty="0">
                <a:solidFill>
                  <a:srgbClr val="222228"/>
                </a:solidFill>
                <a:latin typeface="Calibri"/>
              </a:rPr>
              <a:t>Datta et al. (2021). Real-time threat detection in UEBA. IEEE </a:t>
            </a:r>
            <a:r>
              <a:rPr sz="1250" b="0" i="0" dirty="0" err="1">
                <a:solidFill>
                  <a:srgbClr val="222228"/>
                </a:solidFill>
                <a:latin typeface="Calibri"/>
              </a:rPr>
              <a:t>IEMENTech</a:t>
            </a:r>
            <a:r>
              <a:rPr sz="1250" b="0" i="0" dirty="0">
                <a:solidFill>
                  <a:srgbClr val="222228"/>
                </a:solidFill>
                <a:latin typeface="Calibri"/>
              </a:rPr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dirty="0">
                <a:solidFill>
                  <a:srgbClr val="222228"/>
                </a:solidFill>
                <a:latin typeface="Calibri"/>
              </a:rPr>
              <a:t>Verizon (2025). Data Breach Investigations Report.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2920" y="17300448"/>
            <a:ext cx="13205460" cy="438912"/>
          </a:xfrm>
          <a:prstGeom prst="round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  KEY CONTRIBUTIONS  &amp;  IMPACT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2920" y="17849088"/>
            <a:ext cx="3177921" cy="877824"/>
          </a:xfrm>
          <a:prstGeom prst="roundRect">
            <a:avLst/>
          </a:prstGeom>
          <a:solidFill>
            <a:srgbClr val="F2EEF9"/>
          </a:solidFill>
          <a:ln w="15875">
            <a:solidFill>
              <a:srgbClr val="6A3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C8106E"/>
                </a:solidFill>
                <a:latin typeface="Calibri"/>
              </a:rPr>
              <a:t>AUROC 0.976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228"/>
                </a:solidFill>
                <a:latin typeface="Calibri"/>
              </a:rPr>
              <a:t>Label-free detection — near-supervised accuracy with zero labelled attacks.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45433" y="17849088"/>
            <a:ext cx="3177921" cy="877824"/>
          </a:xfrm>
          <a:prstGeom prst="roundRect">
            <a:avLst/>
          </a:prstGeom>
          <a:solidFill>
            <a:srgbClr val="F2EEF9"/>
          </a:solidFill>
          <a:ln w="15875">
            <a:solidFill>
              <a:srgbClr val="6A3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C8106E"/>
                </a:solidFill>
                <a:latin typeface="Calibri"/>
              </a:rPr>
              <a:t>4 cloud sources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228"/>
                </a:solidFill>
                <a:latin typeface="Calibri"/>
              </a:rPr>
              <a:t>AWS · Azure · Cloudflare · GitHub unified into one 8-field schema.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187946" y="17849088"/>
            <a:ext cx="3177921" cy="877824"/>
          </a:xfrm>
          <a:prstGeom prst="roundRect">
            <a:avLst/>
          </a:prstGeom>
          <a:solidFill>
            <a:srgbClr val="F2EEF9"/>
          </a:solidFill>
          <a:ln w="15875">
            <a:solidFill>
              <a:srgbClr val="6A3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C8106E"/>
                </a:solidFill>
                <a:latin typeface="Calibri"/>
              </a:rPr>
              <a:t>Explainable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228"/>
                </a:solidFill>
                <a:latin typeface="Calibri"/>
              </a:rPr>
              <a:t>SHAP attribution + LLM analyst give the reason behind every alert.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530459" y="17849088"/>
            <a:ext cx="3177921" cy="877824"/>
          </a:xfrm>
          <a:prstGeom prst="roundRect">
            <a:avLst/>
          </a:prstGeom>
          <a:solidFill>
            <a:srgbClr val="F2EEF9"/>
          </a:solidFill>
          <a:ln w="15875">
            <a:solidFill>
              <a:srgbClr val="6A3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C8106E"/>
                </a:solidFill>
                <a:latin typeface="Calibri"/>
              </a:rPr>
              <a:t>Live AUROC 0.917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228"/>
                </a:solidFill>
                <a:latin typeface="Calibri"/>
              </a:rPr>
              <a:t>Production /ingest validated; deployed on Docker + HF Space + Vercel.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541</Words>
  <Application>Microsoft Office PowerPoint</Application>
  <PresentationFormat>Custom</PresentationFormat>
  <Paragraphs>59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Yap Zhe Cheng</cp:lastModifiedBy>
  <cp:revision>1</cp:revision>
  <dcterms:created xsi:type="dcterms:W3CDTF">2026-05-30T08:03:31Z</dcterms:created>
  <dcterms:modified xsi:type="dcterms:W3CDTF">2026-05-30T15:22:26Z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2026-05-30T00:00:00Z</vt:filetime>
  </property>
  <property fmtid="{D5CDD505-2E9C-101B-9397-08002B2CF9AE}" pid="4" name="LastSaved">
    <vt:filetime>2026-05-30T00:00:00Z</vt:filetime>
  </property>
</Properties>
</file>