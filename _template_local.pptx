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211300" cy="20104100"/>
  <p:notesSz cx="142113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1A4DB1-B574-4701-8B2D-BDFB46DCC2D1}" v="1" dt="2026-05-30T14:58:50.41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651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5847" y="6232271"/>
            <a:ext cx="12079605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1695" y="11258296"/>
            <a:ext cx="994791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0565" y="4623943"/>
            <a:ext cx="618191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18819" y="4623943"/>
            <a:ext cx="618191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5"/>
            <a:ext cx="14208246" cy="201028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565" y="804164"/>
            <a:ext cx="12790170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565" y="4623943"/>
            <a:ext cx="1279017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1842" y="18696814"/>
            <a:ext cx="4547616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0565" y="18696814"/>
            <a:ext cx="326859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32136" y="18696814"/>
            <a:ext cx="326859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8092" y="1369535"/>
            <a:ext cx="10060940" cy="161099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45745" marR="250825" algn="ctr">
              <a:lnSpc>
                <a:spcPts val="3640"/>
              </a:lnSpc>
              <a:spcBef>
                <a:spcPts val="225"/>
              </a:spcBef>
            </a:pPr>
            <a:r>
              <a:rPr sz="3050" dirty="0">
                <a:latin typeface="Arial MT"/>
                <a:cs typeface="Arial MT"/>
              </a:rPr>
              <a:t>Lexical</a:t>
            </a:r>
            <a:r>
              <a:rPr sz="3050" spc="-5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Usage</a:t>
            </a:r>
            <a:r>
              <a:rPr sz="3050" spc="-2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Characteristics</a:t>
            </a:r>
            <a:r>
              <a:rPr sz="3050" spc="-5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in</a:t>
            </a:r>
            <a:r>
              <a:rPr sz="3050" spc="-7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the</a:t>
            </a:r>
            <a:r>
              <a:rPr sz="3050" spc="-7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Malaysian</a:t>
            </a:r>
            <a:r>
              <a:rPr sz="3050" spc="-7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Chinese </a:t>
            </a:r>
            <a:r>
              <a:rPr sz="3050" dirty="0">
                <a:latin typeface="Arial MT"/>
                <a:cs typeface="Arial MT"/>
              </a:rPr>
              <a:t>Language</a:t>
            </a:r>
            <a:r>
              <a:rPr sz="3050" spc="-6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from</a:t>
            </a:r>
            <a:r>
              <a:rPr sz="3050" spc="-4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a</a:t>
            </a:r>
            <a:r>
              <a:rPr sz="3050" spc="-5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Global</a:t>
            </a:r>
            <a:r>
              <a:rPr sz="3050" spc="-3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Chinese</a:t>
            </a:r>
            <a:r>
              <a:rPr sz="3050" spc="-6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Perspective</a:t>
            </a:r>
            <a:endParaRPr sz="3050" dirty="0">
              <a:latin typeface="Arial MT"/>
              <a:cs typeface="Arial MT"/>
            </a:endParaRPr>
          </a:p>
          <a:p>
            <a:pPr marR="3175" algn="ctr">
              <a:lnSpc>
                <a:spcPts val="2925"/>
              </a:lnSpc>
              <a:spcBef>
                <a:spcPts val="245"/>
              </a:spcBef>
            </a:pPr>
            <a:r>
              <a:rPr lang="en-MY" sz="2450" i="1" dirty="0">
                <a:solidFill>
                  <a:srgbClr val="001F5F"/>
                </a:solidFill>
                <a:latin typeface="Arial"/>
                <a:cs typeface="Arial"/>
              </a:rPr>
              <a:t>YAP ZHE CHENG</a:t>
            </a:r>
            <a:r>
              <a:rPr sz="2450" i="1" dirty="0">
                <a:solidFill>
                  <a:srgbClr val="001F5F"/>
                </a:solidFill>
                <a:latin typeface="Arial"/>
                <a:cs typeface="Arial"/>
              </a:rPr>
              <a:t>,</a:t>
            </a:r>
            <a:r>
              <a:rPr sz="2450" i="1" spc="-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en-MY" sz="2450" i="1">
                <a:solidFill>
                  <a:srgbClr val="001F5F"/>
                </a:solidFill>
                <a:latin typeface="Arial"/>
                <a:cs typeface="Arial"/>
              </a:rPr>
              <a:t>FIRDAUS SARHAN</a:t>
            </a:r>
            <a:endParaRPr sz="2450" dirty="0">
              <a:latin typeface="Arial"/>
              <a:cs typeface="Arial"/>
            </a:endParaRPr>
          </a:p>
          <a:p>
            <a:pPr algn="ctr">
              <a:lnSpc>
                <a:spcPts val="1905"/>
              </a:lnSpc>
            </a:pP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Department</a:t>
            </a:r>
            <a:r>
              <a:rPr sz="1600" i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1600" i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Chinses</a:t>
            </a:r>
            <a:r>
              <a:rPr sz="1600" i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Studies,</a:t>
            </a:r>
            <a:r>
              <a:rPr sz="1600" i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Faculty</a:t>
            </a:r>
            <a:r>
              <a:rPr sz="1600" i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1600" i="1" spc="-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Arts</a:t>
            </a:r>
            <a:r>
              <a:rPr sz="1600" i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and</a:t>
            </a:r>
            <a:r>
              <a:rPr sz="1600" i="1" spc="-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Social</a:t>
            </a:r>
            <a:r>
              <a:rPr sz="1600" i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Sciences,</a:t>
            </a:r>
            <a:r>
              <a:rPr sz="1600" i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Universiti</a:t>
            </a:r>
            <a:r>
              <a:rPr sz="1600" i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Malaya,</a:t>
            </a:r>
            <a:r>
              <a:rPr sz="1600" i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Kuala</a:t>
            </a:r>
            <a:r>
              <a:rPr sz="1600" i="1" spc="-7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1F5F"/>
                </a:solidFill>
                <a:latin typeface="Arial"/>
                <a:cs typeface="Arial"/>
              </a:rPr>
              <a:t>Lumpur,</a:t>
            </a:r>
            <a:r>
              <a:rPr sz="1600" i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i="1" spc="-10" dirty="0">
                <a:solidFill>
                  <a:srgbClr val="001F5F"/>
                </a:solidFill>
                <a:latin typeface="Arial"/>
                <a:cs typeface="Arial"/>
              </a:rPr>
              <a:t>Malaysia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694" y="3436837"/>
            <a:ext cx="6372860" cy="751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860"/>
              </a:lnSpc>
              <a:spcBef>
                <a:spcPts val="9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60"/>
              </a:lnSpc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study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applied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Diao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Yanbin’s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(2022)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“Six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6679" y="4164836"/>
            <a:ext cx="3964304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61360" algn="l"/>
              </a:tabLst>
            </a:pPr>
            <a:r>
              <a:rPr sz="2400" spc="-15" dirty="0">
                <a:latin typeface="Arial MT"/>
                <a:cs typeface="Arial MT"/>
              </a:rPr>
              <a:t>framework—</a:t>
            </a:r>
            <a:r>
              <a:rPr sz="2400" spc="-10" dirty="0">
                <a:latin typeface="Arial MT"/>
                <a:cs typeface="Arial MT"/>
              </a:rPr>
              <a:t>Huayu,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Early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8171" y="4525588"/>
            <a:ext cx="3048635" cy="7569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42875" marR="5080" indent="-130810">
              <a:lnSpc>
                <a:spcPct val="100400"/>
              </a:lnSpc>
              <a:spcBef>
                <a:spcPts val="80"/>
              </a:spcBef>
              <a:tabLst>
                <a:tab pos="1083945" algn="l"/>
                <a:tab pos="1531620" algn="l"/>
                <a:tab pos="2531110" algn="l"/>
              </a:tabLst>
            </a:pPr>
            <a:r>
              <a:rPr sz="2400" spc="-10" dirty="0">
                <a:latin typeface="Arial MT"/>
                <a:cs typeface="Arial MT"/>
              </a:rPr>
              <a:t>Dialect,</a:t>
            </a:r>
            <a:r>
              <a:rPr sz="2400" dirty="0">
                <a:latin typeface="Arial MT"/>
                <a:cs typeface="Arial MT"/>
              </a:rPr>
              <a:t>		</a:t>
            </a:r>
            <a:r>
              <a:rPr sz="2400" spc="-10" dirty="0">
                <a:latin typeface="Arial MT"/>
                <a:cs typeface="Arial MT"/>
              </a:rPr>
              <a:t>Foreign 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Ancient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3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3050" y="4525588"/>
            <a:ext cx="1459230" cy="7569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17195" marR="5080" indent="-405130">
              <a:lnSpc>
                <a:spcPct val="100400"/>
              </a:lnSpc>
              <a:spcBef>
                <a:spcPts val="80"/>
              </a:spcBef>
            </a:pPr>
            <a:r>
              <a:rPr sz="2400" spc="-20" dirty="0">
                <a:latin typeface="Arial MT"/>
                <a:cs typeface="Arial MT"/>
              </a:rPr>
              <a:t>Language, Modern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694" y="4164836"/>
            <a:ext cx="1865630" cy="148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95"/>
              </a:spcBef>
            </a:pPr>
            <a:r>
              <a:rPr sz="2400" spc="-10" dirty="0">
                <a:latin typeface="Arial MT"/>
                <a:cs typeface="Arial MT"/>
              </a:rPr>
              <a:t>Perspectives” Mandarin, Putonghua, </a:t>
            </a:r>
            <a:r>
              <a:rPr sz="2400" spc="-25" dirty="0">
                <a:latin typeface="Arial MT"/>
                <a:cs typeface="Arial MT"/>
              </a:rPr>
              <a:t>Chinese—to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61738" y="5259828"/>
            <a:ext cx="430276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59560" algn="l"/>
                <a:tab pos="2802890" algn="l"/>
              </a:tabLst>
            </a:pPr>
            <a:r>
              <a:rPr sz="2400" spc="-10" dirty="0">
                <a:latin typeface="Arial MT"/>
                <a:cs typeface="Arial MT"/>
              </a:rPr>
              <a:t>examine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lexical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differences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694" y="5620581"/>
            <a:ext cx="6371590" cy="7575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0"/>
              </a:spcBef>
            </a:pP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Malaysian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Chinese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language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Putonghua.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Chew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Daily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news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(Jan–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1694" y="6348579"/>
            <a:ext cx="637286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03275" algn="l"/>
                <a:tab pos="1931670" algn="l"/>
                <a:tab pos="2621280" algn="l"/>
                <a:tab pos="3614420" algn="l"/>
                <a:tab pos="4641850" algn="l"/>
                <a:tab pos="5415280" algn="l"/>
                <a:tab pos="5986780" algn="l"/>
              </a:tabLst>
            </a:pPr>
            <a:r>
              <a:rPr sz="2400" spc="-25" dirty="0">
                <a:latin typeface="Arial MT"/>
                <a:cs typeface="Arial MT"/>
              </a:rPr>
              <a:t>Mar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2025),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study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found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all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six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694" y="6715657"/>
            <a:ext cx="6367145" cy="7569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0"/>
              </a:spcBef>
            </a:pPr>
            <a:r>
              <a:rPr sz="2400" dirty="0">
                <a:latin typeface="Arial MT"/>
                <a:cs typeface="Arial MT"/>
              </a:rPr>
              <a:t>perspectives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influenced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Malaysian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Chinese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varying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degrees.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903" y="7702728"/>
            <a:ext cx="6315075" cy="286131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RESEARCH</a:t>
            </a:r>
            <a:r>
              <a:rPr sz="2400" b="1" u="sng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SIGNIFICANCE</a:t>
            </a:r>
            <a:endParaRPr sz="2400">
              <a:latin typeface="Arial"/>
              <a:cs typeface="Arial"/>
            </a:endParaRPr>
          </a:p>
          <a:p>
            <a:pPr marL="314325" marR="5080" indent="-311150">
              <a:lnSpc>
                <a:spcPct val="99500"/>
              </a:lnSpc>
              <a:spcBef>
                <a:spcPts val="1125"/>
              </a:spcBef>
              <a:buSzPct val="97916"/>
              <a:buChar char="●"/>
              <a:tabLst>
                <a:tab pos="316230" algn="l"/>
              </a:tabLst>
            </a:pPr>
            <a:r>
              <a:rPr sz="2400" dirty="0">
                <a:latin typeface="Arial MT"/>
                <a:cs typeface="Arial MT"/>
              </a:rPr>
              <a:t>Filled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research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gap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systematic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study 	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lexical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usage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Malaysian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Chinese 	language.</a:t>
            </a:r>
            <a:endParaRPr sz="2400">
              <a:latin typeface="Arial MT"/>
              <a:cs typeface="Arial MT"/>
            </a:endParaRPr>
          </a:p>
          <a:p>
            <a:pPr marL="314325" marR="733425" indent="-311150">
              <a:lnSpc>
                <a:spcPts val="2890"/>
              </a:lnSpc>
              <a:spcBef>
                <a:spcPts val="45"/>
              </a:spcBef>
              <a:buSzPct val="97916"/>
              <a:buChar char="●"/>
              <a:tabLst>
                <a:tab pos="316230" algn="l"/>
              </a:tabLst>
            </a:pPr>
            <a:r>
              <a:rPr sz="2400" dirty="0">
                <a:latin typeface="Arial MT"/>
                <a:cs typeface="Arial MT"/>
              </a:rPr>
              <a:t>Applied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Diao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Yanbin’s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(2022)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“Six 	</a:t>
            </a:r>
            <a:r>
              <a:rPr sz="2400" spc="-10" dirty="0">
                <a:latin typeface="Arial MT"/>
                <a:cs typeface="Arial MT"/>
              </a:rPr>
              <a:t>Perspectives”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theory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	</a:t>
            </a:r>
            <a:r>
              <a:rPr sz="2400" spc="-10" dirty="0">
                <a:latin typeface="Arial MT"/>
                <a:cs typeface="Arial MT"/>
              </a:rPr>
              <a:t>Malaysian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Chinese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language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research.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9918" y="10853677"/>
            <a:ext cx="6696709" cy="14789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860"/>
              </a:lnSpc>
              <a:spcBef>
                <a:spcPts val="9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METHODOLOGY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60"/>
              </a:lnSpc>
            </a:pPr>
            <a:r>
              <a:rPr sz="2400" b="1" dirty="0">
                <a:latin typeface="Arial"/>
                <a:cs typeface="Arial"/>
              </a:rPr>
              <a:t>Theoretical</a:t>
            </a:r>
            <a:r>
              <a:rPr sz="2400" b="1" spc="-1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Framework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840"/>
              </a:lnSpc>
              <a:spcBef>
                <a:spcPts val="140"/>
              </a:spcBef>
            </a:pPr>
            <a:r>
              <a:rPr sz="2400" dirty="0">
                <a:latin typeface="Arial MT"/>
                <a:cs typeface="Arial MT"/>
              </a:rPr>
              <a:t>Adopted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Diao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Yanbin’s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(2022)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Six</a:t>
            </a:r>
            <a:r>
              <a:rPr sz="2400" spc="3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Perspectives </a:t>
            </a:r>
            <a:r>
              <a:rPr sz="2400" dirty="0">
                <a:latin typeface="Arial MT"/>
                <a:cs typeface="Arial MT"/>
              </a:rPr>
              <a:t>theory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analytical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foundation.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9918" y="12676668"/>
            <a:ext cx="6697345" cy="1845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860"/>
              </a:lnSpc>
              <a:spcBef>
                <a:spcPts val="90"/>
              </a:spcBef>
            </a:pPr>
            <a:r>
              <a:rPr sz="2400" b="1" dirty="0">
                <a:latin typeface="Arial"/>
                <a:cs typeface="Arial"/>
              </a:rPr>
              <a:t>Research</a:t>
            </a:r>
            <a:r>
              <a:rPr sz="2400" b="1" spc="-1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  <a:p>
            <a:pPr marL="1227455" indent="-607695">
              <a:lnSpc>
                <a:spcPts val="2860"/>
              </a:lnSpc>
              <a:buChar char="•"/>
              <a:tabLst>
                <a:tab pos="122745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Corpus</a:t>
            </a:r>
            <a:r>
              <a:rPr sz="2400" u="sng" spc="57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Analysis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5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5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</a:t>
            </a:r>
            <a:r>
              <a:rPr sz="2400" spc="5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Chew</a:t>
            </a:r>
            <a:endParaRPr sz="2400">
              <a:latin typeface="Arial MT"/>
              <a:cs typeface="Arial MT"/>
            </a:endParaRPr>
          </a:p>
          <a:p>
            <a:pPr marL="12700" marR="8890">
              <a:lnSpc>
                <a:spcPts val="2840"/>
              </a:lnSpc>
              <a:spcBef>
                <a:spcPts val="140"/>
              </a:spcBef>
            </a:pPr>
            <a:r>
              <a:rPr sz="2400" dirty="0">
                <a:latin typeface="Arial MT"/>
                <a:cs typeface="Arial MT"/>
              </a:rPr>
              <a:t>Daily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news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(Jan–</a:t>
            </a:r>
            <a:r>
              <a:rPr sz="2400" dirty="0">
                <a:latin typeface="Arial MT"/>
                <a:cs typeface="Arial MT"/>
              </a:rPr>
              <a:t>Mar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2025)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Malaysian </a:t>
            </a:r>
            <a:r>
              <a:rPr sz="2400" dirty="0">
                <a:latin typeface="Arial MT"/>
                <a:cs typeface="Arial MT"/>
              </a:rPr>
              <a:t>local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journalists.</a:t>
            </a:r>
            <a:endParaRPr sz="2400">
              <a:latin typeface="Arial MT"/>
              <a:cs typeface="Arial MT"/>
            </a:endParaRPr>
          </a:p>
          <a:p>
            <a:pPr marL="1227455" indent="-607695">
              <a:lnSpc>
                <a:spcPts val="2805"/>
              </a:lnSpc>
              <a:buChar char="•"/>
              <a:tabLst>
                <a:tab pos="122745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Comparative</a:t>
            </a:r>
            <a:r>
              <a:rPr sz="2400" u="sng" spc="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Analysis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Examined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lexical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9918" y="14499659"/>
            <a:ext cx="6693534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781175" algn="l"/>
                <a:tab pos="3212465" algn="l"/>
                <a:tab pos="3918585" algn="l"/>
                <a:tab pos="5569585" algn="l"/>
              </a:tabLst>
            </a:pPr>
            <a:r>
              <a:rPr sz="2400" spc="-10" dirty="0">
                <a:latin typeface="Arial MT"/>
                <a:cs typeface="Arial MT"/>
              </a:rPr>
              <a:t>differences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between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Malaysian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Chinese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9918" y="14860412"/>
            <a:ext cx="350202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Arial MT"/>
                <a:cs typeface="Arial MT"/>
              </a:rPr>
              <a:t>language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Putonghua.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918" y="15227489"/>
            <a:ext cx="6698615" cy="148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0945" algn="just">
              <a:lnSpc>
                <a:spcPct val="99800"/>
              </a:lnSpc>
              <a:spcBef>
                <a:spcPts val="95"/>
              </a:spcBef>
              <a:buChar char="•"/>
              <a:tabLst>
                <a:tab pos="122364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Inductive</a:t>
            </a:r>
            <a:r>
              <a:rPr sz="2400" u="sng" spc="1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Analysis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Categorized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findings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434" dirty="0">
                <a:latin typeface="Arial MT"/>
                <a:cs typeface="Arial MT"/>
              </a:rPr>
              <a:t>   </a:t>
            </a:r>
            <a:r>
              <a:rPr sz="2400" dirty="0">
                <a:latin typeface="Arial MT"/>
                <a:cs typeface="Arial MT"/>
              </a:rPr>
              <a:t>word</a:t>
            </a:r>
            <a:r>
              <a:rPr sz="2400" spc="450" dirty="0">
                <a:latin typeface="Arial MT"/>
                <a:cs typeface="Arial MT"/>
              </a:rPr>
              <a:t>   </a:t>
            </a:r>
            <a:r>
              <a:rPr sz="2400" dirty="0">
                <a:latin typeface="Arial MT"/>
                <a:cs typeface="Arial MT"/>
              </a:rPr>
              <a:t>form,</a:t>
            </a:r>
            <a:r>
              <a:rPr sz="2400" spc="440" dirty="0">
                <a:latin typeface="Arial MT"/>
                <a:cs typeface="Arial MT"/>
              </a:rPr>
              <a:t>   </a:t>
            </a:r>
            <a:r>
              <a:rPr sz="2400" dirty="0">
                <a:latin typeface="Arial MT"/>
                <a:cs typeface="Arial MT"/>
              </a:rPr>
              <a:t>meaning,</a:t>
            </a:r>
            <a:r>
              <a:rPr sz="2400" spc="445" dirty="0">
                <a:latin typeface="Arial MT"/>
                <a:cs typeface="Arial MT"/>
              </a:rPr>
              <a:t> 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445" dirty="0">
                <a:latin typeface="Arial MT"/>
                <a:cs typeface="Arial MT"/>
              </a:rPr>
              <a:t>   </a:t>
            </a:r>
            <a:r>
              <a:rPr sz="2400" spc="-10" dirty="0">
                <a:latin typeface="Arial MT"/>
                <a:cs typeface="Arial MT"/>
              </a:rPr>
              <a:t>usage, </a:t>
            </a:r>
            <a:r>
              <a:rPr sz="2400" dirty="0">
                <a:latin typeface="Arial MT"/>
                <a:cs typeface="Arial MT"/>
              </a:rPr>
              <a:t>summarizing</a:t>
            </a:r>
            <a:r>
              <a:rPr sz="2400" spc="5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lexical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features</a:t>
            </a:r>
            <a:r>
              <a:rPr sz="2400" spc="5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formative </a:t>
            </a:r>
            <a:r>
              <a:rPr sz="2400" dirty="0">
                <a:latin typeface="Arial MT"/>
                <a:cs typeface="Arial MT"/>
              </a:rPr>
              <a:t>causes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Malaysian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Chinese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language.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89217" y="3285308"/>
            <a:ext cx="415988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RESULTS</a:t>
            </a:r>
            <a:r>
              <a:rPr sz="2400" b="1" u="sng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2400" b="1" u="sng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DISCUSSION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244078" y="3646060"/>
            <a:ext cx="151320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latin typeface="Arial MT"/>
                <a:cs typeface="Arial MT"/>
              </a:rPr>
              <a:t>differences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76986" y="3646060"/>
            <a:ext cx="68135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0" dirty="0">
                <a:latin typeface="Arial MT"/>
                <a:cs typeface="Arial MT"/>
              </a:rPr>
              <a:t>were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01917" y="4013138"/>
            <a:ext cx="75692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400" spc="-30" dirty="0">
                <a:latin typeface="Arial MT"/>
                <a:cs typeface="Arial MT"/>
              </a:rPr>
              <a:t>found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09383" y="3646060"/>
            <a:ext cx="3113405" cy="7575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35940" marR="5080" indent="-536575">
              <a:lnSpc>
                <a:spcPct val="100400"/>
              </a:lnSpc>
              <a:spcBef>
                <a:spcPts val="80"/>
              </a:spcBef>
              <a:buChar char="•"/>
              <a:tabLst>
                <a:tab pos="535940" algn="l"/>
                <a:tab pos="607060" algn="l"/>
                <a:tab pos="2066925" algn="l"/>
                <a:tab pos="2255520" algn="l"/>
              </a:tabLst>
            </a:pP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Significant</a:t>
            </a:r>
            <a:r>
              <a:rPr sz="2400" dirty="0">
                <a:latin typeface="Arial MT"/>
                <a:cs typeface="Arial MT"/>
              </a:rPr>
              <a:t>		</a:t>
            </a:r>
            <a:r>
              <a:rPr sz="2400" spc="-20" dirty="0">
                <a:latin typeface="Arial MT"/>
                <a:cs typeface="Arial MT"/>
              </a:rPr>
              <a:t>lexical </a:t>
            </a:r>
            <a:r>
              <a:rPr sz="2400" spc="-10" dirty="0">
                <a:latin typeface="Arial MT"/>
                <a:cs typeface="Arial MT"/>
              </a:rPr>
              <a:t>between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770469" y="4013138"/>
            <a:ext cx="138874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latin typeface="Arial MT"/>
                <a:cs typeface="Arial MT"/>
              </a:rPr>
              <a:t>Malaysian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21259" y="4013138"/>
            <a:ext cx="113728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latin typeface="Arial MT"/>
                <a:cs typeface="Arial MT"/>
              </a:rPr>
              <a:t>Chinese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89217" y="4373975"/>
            <a:ext cx="637159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68450" algn="l"/>
                <a:tab pos="2381885" algn="l"/>
                <a:tab pos="4157345" algn="l"/>
                <a:tab pos="4700905" algn="l"/>
                <a:tab pos="5666105" algn="l"/>
              </a:tabLst>
            </a:pPr>
            <a:r>
              <a:rPr sz="2400" spc="-10" dirty="0">
                <a:latin typeface="Arial MT"/>
                <a:cs typeface="Arial MT"/>
              </a:rPr>
              <a:t>language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Putonghua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word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form,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89217" y="4741052"/>
            <a:ext cx="286067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Arial MT"/>
                <a:cs typeface="Arial MT"/>
              </a:rPr>
              <a:t>meaning,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usage.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09383" y="5108215"/>
            <a:ext cx="137922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7060" indent="-607060">
              <a:lnSpc>
                <a:spcPct val="100000"/>
              </a:lnSpc>
              <a:spcBef>
                <a:spcPts val="90"/>
              </a:spcBef>
              <a:buChar char="•"/>
              <a:tabLst>
                <a:tab pos="607060" algn="l"/>
              </a:tabLst>
            </a:pPr>
            <a:r>
              <a:rPr sz="2400" spc="-10" dirty="0">
                <a:latin typeface="Arial MT"/>
                <a:cs typeface="Arial MT"/>
              </a:rPr>
              <a:t>Major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04336" y="5108215"/>
            <a:ext cx="139001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latin typeface="Arial MT"/>
                <a:cs typeface="Arial MT"/>
              </a:rPr>
              <a:t>influences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111821" y="5108215"/>
            <a:ext cx="77025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0" dirty="0">
                <a:latin typeface="Arial MT"/>
                <a:cs typeface="Arial MT"/>
              </a:rPr>
              <a:t>came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094885" y="5108215"/>
            <a:ext cx="63309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0" dirty="0">
                <a:latin typeface="Arial MT"/>
                <a:cs typeface="Arial MT"/>
              </a:rPr>
              <a:t>from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943247" y="5108215"/>
            <a:ext cx="71501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latin typeface="Arial MT"/>
                <a:cs typeface="Arial MT"/>
              </a:rPr>
              <a:t>Early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01917" y="5469051"/>
            <a:ext cx="6358890" cy="7575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R="5080">
              <a:lnSpc>
                <a:spcPct val="100400"/>
              </a:lnSpc>
              <a:spcBef>
                <a:spcPts val="80"/>
              </a:spcBef>
              <a:tabLst>
                <a:tab pos="1198245" algn="l"/>
                <a:tab pos="2379345" algn="l"/>
                <a:tab pos="3105150" algn="l"/>
                <a:tab pos="5316220" algn="l"/>
              </a:tabLst>
            </a:pPr>
            <a:r>
              <a:rPr sz="2400" spc="-10" dirty="0">
                <a:latin typeface="Arial MT"/>
                <a:cs typeface="Arial MT"/>
              </a:rPr>
              <a:t>Guoyu,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Huayu,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Classical/Early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Modern </a:t>
            </a:r>
            <a:r>
              <a:rPr sz="2400" spc="-10" dirty="0">
                <a:latin typeface="Arial MT"/>
                <a:cs typeface="Arial MT"/>
              </a:rPr>
              <a:t>Chinese.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09383" y="6196966"/>
            <a:ext cx="114363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7060" indent="-607060">
              <a:lnSpc>
                <a:spcPct val="100000"/>
              </a:lnSpc>
              <a:spcBef>
                <a:spcPts val="90"/>
              </a:spcBef>
              <a:buChar char="•"/>
              <a:tabLst>
                <a:tab pos="607060" algn="l"/>
              </a:tabLst>
            </a:pPr>
            <a:r>
              <a:rPr sz="2400" spc="-2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421255" y="6196966"/>
            <a:ext cx="139065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latin typeface="Arial MT"/>
                <a:cs typeface="Arial MT"/>
              </a:rPr>
              <a:t>Malaysian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182251" y="6196966"/>
            <a:ext cx="113728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latin typeface="Arial MT"/>
                <a:cs typeface="Arial MT"/>
              </a:rPr>
              <a:t>Chinese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89217" y="6196966"/>
            <a:ext cx="6374130" cy="7575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5400675">
              <a:lnSpc>
                <a:spcPct val="100400"/>
              </a:lnSpc>
              <a:spcBef>
                <a:spcPts val="80"/>
              </a:spcBef>
              <a:tabLst>
                <a:tab pos="1137920" algn="l"/>
                <a:tab pos="3224530" algn="l"/>
                <a:tab pos="5059045" algn="l"/>
              </a:tabLst>
            </a:pPr>
            <a:r>
              <a:rPr sz="2400" spc="-10" dirty="0">
                <a:latin typeface="Arial MT"/>
                <a:cs typeface="Arial MT"/>
              </a:rPr>
              <a:t>lexicon shows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systematicity,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inheritance,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evolution,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89217" y="6931121"/>
            <a:ext cx="6372225" cy="75120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40"/>
              </a:lnSpc>
              <a:spcBef>
                <a:spcPts val="220"/>
              </a:spcBef>
            </a:pPr>
            <a:r>
              <a:rPr sz="2400" dirty="0">
                <a:latin typeface="Arial MT"/>
                <a:cs typeface="Arial MT"/>
              </a:rPr>
              <a:t>and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multi-</a:t>
            </a:r>
            <a:r>
              <a:rPr sz="2400" dirty="0">
                <a:latin typeface="Arial MT"/>
                <a:cs typeface="Arial MT"/>
              </a:rPr>
              <a:t>sourcedness,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3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clear</a:t>
            </a:r>
            <a:r>
              <a:rPr sz="2400" spc="3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tendency </a:t>
            </a:r>
            <a:r>
              <a:rPr sz="2400" dirty="0">
                <a:latin typeface="Arial MT"/>
                <a:cs typeface="Arial MT"/>
              </a:rPr>
              <a:t>toward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disyllabification.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03036" y="10904117"/>
            <a:ext cx="6450330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b="1" dirty="0">
                <a:latin typeface="Arial"/>
                <a:cs typeface="Arial"/>
              </a:rPr>
              <a:t>Fig.</a:t>
            </a:r>
            <a:r>
              <a:rPr sz="1750" b="1" spc="-70" dirty="0">
                <a:latin typeface="Arial"/>
                <a:cs typeface="Arial"/>
              </a:rPr>
              <a:t> </a:t>
            </a:r>
            <a:r>
              <a:rPr sz="1750" b="1" dirty="0">
                <a:latin typeface="Arial"/>
                <a:cs typeface="Arial"/>
              </a:rPr>
              <a:t>2.</a:t>
            </a:r>
            <a:r>
              <a:rPr sz="1750" b="1" spc="-55" dirty="0">
                <a:latin typeface="Arial"/>
                <a:cs typeface="Arial"/>
              </a:rPr>
              <a:t> </a:t>
            </a:r>
            <a:r>
              <a:rPr sz="1750" spc="-10" dirty="0">
                <a:latin typeface="Arial MT"/>
                <a:cs typeface="Arial MT"/>
              </a:rPr>
              <a:t>Proportion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of</a:t>
            </a:r>
            <a:r>
              <a:rPr sz="1750" spc="-6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Influences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on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Malaysian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Chinese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Lexicon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85887" y="3024598"/>
            <a:ext cx="13006705" cy="15486380"/>
            <a:chOff x="385887" y="3024598"/>
            <a:chExt cx="13006705" cy="15486380"/>
          </a:xfrm>
        </p:grpSpPr>
        <p:sp>
          <p:nvSpPr>
            <p:cNvPr id="40" name="object 40"/>
            <p:cNvSpPr/>
            <p:nvPr/>
          </p:nvSpPr>
          <p:spPr>
            <a:xfrm>
              <a:off x="2473474" y="3024598"/>
              <a:ext cx="10918825" cy="202565"/>
            </a:xfrm>
            <a:custGeom>
              <a:avLst/>
              <a:gdLst/>
              <a:ahLst/>
              <a:cxnLst/>
              <a:rect l="l" t="t" r="r" b="b"/>
              <a:pathLst>
                <a:path w="10918825" h="202564">
                  <a:moveTo>
                    <a:pt x="10918714" y="0"/>
                  </a:moveTo>
                  <a:lnTo>
                    <a:pt x="217699" y="0"/>
                  </a:lnTo>
                  <a:lnTo>
                    <a:pt x="0" y="202517"/>
                  </a:lnTo>
                  <a:lnTo>
                    <a:pt x="10701015" y="202517"/>
                  </a:lnTo>
                  <a:lnTo>
                    <a:pt x="10918714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429681" y="3024598"/>
              <a:ext cx="10918825" cy="202565"/>
            </a:xfrm>
            <a:custGeom>
              <a:avLst/>
              <a:gdLst/>
              <a:ahLst/>
              <a:cxnLst/>
              <a:rect l="l" t="t" r="r" b="b"/>
              <a:pathLst>
                <a:path w="10918825" h="202564">
                  <a:moveTo>
                    <a:pt x="10918714" y="0"/>
                  </a:moveTo>
                  <a:lnTo>
                    <a:pt x="217699" y="0"/>
                  </a:lnTo>
                  <a:lnTo>
                    <a:pt x="0" y="202517"/>
                  </a:lnTo>
                  <a:lnTo>
                    <a:pt x="10701015" y="202517"/>
                  </a:lnTo>
                  <a:lnTo>
                    <a:pt x="1091871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5887" y="3024598"/>
              <a:ext cx="10918825" cy="202565"/>
            </a:xfrm>
            <a:custGeom>
              <a:avLst/>
              <a:gdLst/>
              <a:ahLst/>
              <a:cxnLst/>
              <a:rect l="l" t="t" r="r" b="b"/>
              <a:pathLst>
                <a:path w="10918825" h="202564">
                  <a:moveTo>
                    <a:pt x="10918714" y="0"/>
                  </a:moveTo>
                  <a:lnTo>
                    <a:pt x="217657" y="0"/>
                  </a:lnTo>
                  <a:lnTo>
                    <a:pt x="0" y="202517"/>
                  </a:lnTo>
                  <a:lnTo>
                    <a:pt x="10701015" y="202517"/>
                  </a:lnTo>
                  <a:lnTo>
                    <a:pt x="1091871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5898" y="7783032"/>
              <a:ext cx="5098773" cy="313762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2333" y="16970694"/>
              <a:ext cx="9855943" cy="1540006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459176" y="11386624"/>
            <a:ext cx="3314065" cy="750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860"/>
              </a:lnSpc>
              <a:spcBef>
                <a:spcPts val="9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CONCLUSIONS</a:t>
            </a:r>
            <a:endParaRPr sz="2400">
              <a:latin typeface="Arial"/>
              <a:cs typeface="Arial"/>
            </a:endParaRPr>
          </a:p>
          <a:p>
            <a:pPr marL="315595" indent="-311150">
              <a:lnSpc>
                <a:spcPts val="2860"/>
              </a:lnSpc>
              <a:buSzPct val="97916"/>
              <a:buChar char="●"/>
              <a:tabLst>
                <a:tab pos="315595" algn="l"/>
                <a:tab pos="1130935" algn="l"/>
                <a:tab pos="2098040" algn="l"/>
                <a:tab pos="2879090" algn="l"/>
              </a:tabLst>
            </a:pPr>
            <a:r>
              <a:rPr sz="2400" spc="-20" dirty="0">
                <a:latin typeface="Arial MT"/>
                <a:cs typeface="Arial MT"/>
              </a:rPr>
              <a:t>This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study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was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988928" y="11747375"/>
            <a:ext cx="284099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2950" algn="l"/>
                <a:tab pos="1236980" algn="l"/>
                <a:tab pos="2204085" algn="l"/>
              </a:tabLst>
            </a:pPr>
            <a:r>
              <a:rPr sz="2400" spc="-10" dirty="0">
                <a:latin typeface="Arial MT"/>
                <a:cs typeface="Arial MT"/>
              </a:rPr>
              <a:t>first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apply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Diao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762825" y="12114538"/>
            <a:ext cx="6068695" cy="750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840"/>
              </a:lnSpc>
              <a:spcBef>
                <a:spcPts val="215"/>
              </a:spcBef>
              <a:tabLst>
                <a:tab pos="1438910" algn="l"/>
                <a:tab pos="1728470" algn="l"/>
                <a:tab pos="2122170" algn="l"/>
                <a:tab pos="3190875" algn="l"/>
                <a:tab pos="4122420" algn="l"/>
                <a:tab pos="4789170" algn="l"/>
                <a:tab pos="5801360" algn="l"/>
              </a:tabLst>
            </a:pPr>
            <a:r>
              <a:rPr sz="2400" spc="-10" dirty="0">
                <a:latin typeface="Arial MT"/>
                <a:cs typeface="Arial MT"/>
              </a:rPr>
              <a:t>Yanbin’s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Six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Perspectives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framework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spc="-10" dirty="0">
                <a:latin typeface="Arial MT"/>
                <a:cs typeface="Arial MT"/>
              </a:rPr>
              <a:t>Malaysian</a:t>
            </a:r>
            <a:r>
              <a:rPr sz="2400" dirty="0">
                <a:latin typeface="Arial MT"/>
                <a:cs typeface="Arial MT"/>
              </a:rPr>
              <a:t>		</a:t>
            </a:r>
            <a:r>
              <a:rPr sz="2400" spc="-10" dirty="0">
                <a:latin typeface="Arial MT"/>
                <a:cs typeface="Arial MT"/>
              </a:rPr>
              <a:t>Chinese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language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research,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459176" y="12842368"/>
            <a:ext cx="6375400" cy="3902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6230" algn="just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Arial MT"/>
                <a:cs typeface="Arial MT"/>
              </a:rPr>
              <a:t>confirming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theoretical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suitability.</a:t>
            </a:r>
            <a:endParaRPr sz="2400">
              <a:latin typeface="Arial MT"/>
              <a:cs typeface="Arial MT"/>
            </a:endParaRPr>
          </a:p>
          <a:p>
            <a:pPr marL="314960" marR="5080" indent="-311150" algn="just">
              <a:lnSpc>
                <a:spcPct val="99200"/>
              </a:lnSpc>
              <a:spcBef>
                <a:spcPts val="35"/>
              </a:spcBef>
              <a:buSzPct val="97916"/>
              <a:buChar char="●"/>
              <a:tabLst>
                <a:tab pos="31623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highlighted</a:t>
            </a:r>
            <a:r>
              <a:rPr sz="2400" spc="4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unique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lexical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features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	</a:t>
            </a:r>
            <a:r>
              <a:rPr sz="2400" dirty="0">
                <a:latin typeface="Arial MT"/>
                <a:cs typeface="Arial MT"/>
              </a:rPr>
              <a:t>Malaysian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Chinese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promoted</a:t>
            </a:r>
            <a:r>
              <a:rPr sz="2400" spc="5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diversity 	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45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inclusiveness</a:t>
            </a:r>
            <a:r>
              <a:rPr sz="2400" spc="4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4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Global</a:t>
            </a:r>
            <a:r>
              <a:rPr sz="2400" spc="4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Huayu 	community.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60"/>
              </a:lnSpc>
              <a:spcBef>
                <a:spcPts val="55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REFERENCES</a:t>
            </a:r>
            <a:endParaRPr sz="2400">
              <a:latin typeface="Arial"/>
              <a:cs typeface="Arial"/>
            </a:endParaRPr>
          </a:p>
          <a:p>
            <a:pPr marL="314960" marR="10795" indent="-285750" algn="just">
              <a:lnSpc>
                <a:spcPts val="2540"/>
              </a:lnSpc>
              <a:spcBef>
                <a:spcPts val="95"/>
              </a:spcBef>
              <a:buAutoNum type="arabicPeriod"/>
              <a:tabLst>
                <a:tab pos="316230" algn="l"/>
              </a:tabLst>
            </a:pPr>
            <a:r>
              <a:rPr sz="2150" dirty="0">
                <a:latin typeface="Arial MT"/>
                <a:cs typeface="Arial MT"/>
              </a:rPr>
              <a:t>Diao</a:t>
            </a:r>
            <a:r>
              <a:rPr sz="2150" spc="20" dirty="0">
                <a:latin typeface="Arial MT"/>
                <a:cs typeface="Arial MT"/>
              </a:rPr>
              <a:t>  </a:t>
            </a:r>
            <a:r>
              <a:rPr sz="2150" dirty="0">
                <a:latin typeface="Arial MT"/>
                <a:cs typeface="Arial MT"/>
              </a:rPr>
              <a:t>Yanbin</a:t>
            </a:r>
            <a:r>
              <a:rPr sz="2150" spc="30" dirty="0">
                <a:latin typeface="Arial MT"/>
                <a:cs typeface="Arial MT"/>
              </a:rPr>
              <a:t>  </a:t>
            </a:r>
            <a:r>
              <a:rPr sz="2150" dirty="0">
                <a:latin typeface="Arial MT"/>
                <a:cs typeface="Arial MT"/>
              </a:rPr>
              <a:t>(2022a).</a:t>
            </a:r>
            <a:r>
              <a:rPr sz="2150" spc="30" dirty="0">
                <a:latin typeface="Arial MT"/>
                <a:cs typeface="Arial MT"/>
              </a:rPr>
              <a:t>  </a:t>
            </a:r>
            <a:r>
              <a:rPr sz="2150" dirty="0">
                <a:latin typeface="Arial MT"/>
                <a:cs typeface="Arial MT"/>
              </a:rPr>
              <a:t>Six</a:t>
            </a:r>
            <a:r>
              <a:rPr sz="2150" spc="25" dirty="0">
                <a:latin typeface="Arial MT"/>
                <a:cs typeface="Arial MT"/>
              </a:rPr>
              <a:t>  </a:t>
            </a:r>
            <a:r>
              <a:rPr sz="2150" dirty="0">
                <a:latin typeface="Arial MT"/>
                <a:cs typeface="Arial MT"/>
              </a:rPr>
              <a:t>Perspectives</a:t>
            </a:r>
            <a:r>
              <a:rPr sz="2150" spc="25" dirty="0">
                <a:latin typeface="Arial MT"/>
                <a:cs typeface="Arial MT"/>
              </a:rPr>
              <a:t>  </a:t>
            </a:r>
            <a:r>
              <a:rPr sz="2150" dirty="0">
                <a:latin typeface="Arial MT"/>
                <a:cs typeface="Arial MT"/>
              </a:rPr>
              <a:t>on</a:t>
            </a:r>
            <a:r>
              <a:rPr sz="2150" spc="20" dirty="0">
                <a:latin typeface="Arial MT"/>
                <a:cs typeface="Arial MT"/>
              </a:rPr>
              <a:t>  </a:t>
            </a:r>
            <a:r>
              <a:rPr sz="2150" spc="-25" dirty="0">
                <a:latin typeface="Arial MT"/>
                <a:cs typeface="Arial MT"/>
              </a:rPr>
              <a:t>the 	</a:t>
            </a:r>
            <a:r>
              <a:rPr sz="2150" dirty="0">
                <a:latin typeface="Arial MT"/>
                <a:cs typeface="Arial MT"/>
              </a:rPr>
              <a:t>Study</a:t>
            </a:r>
            <a:r>
              <a:rPr sz="2150" spc="-25" dirty="0">
                <a:latin typeface="Arial MT"/>
                <a:cs typeface="Arial MT"/>
              </a:rPr>
              <a:t> 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30" dirty="0">
                <a:latin typeface="Arial MT"/>
                <a:cs typeface="Arial MT"/>
              </a:rPr>
              <a:t>  </a:t>
            </a:r>
            <a:r>
              <a:rPr sz="2150" dirty="0">
                <a:latin typeface="Arial MT"/>
                <a:cs typeface="Arial MT"/>
              </a:rPr>
              <a:t>Chinese</a:t>
            </a:r>
            <a:r>
              <a:rPr sz="2150" spc="-25" dirty="0">
                <a:latin typeface="Arial MT"/>
                <a:cs typeface="Arial MT"/>
              </a:rPr>
              <a:t>  </a:t>
            </a:r>
            <a:r>
              <a:rPr sz="2150" dirty="0">
                <a:latin typeface="Arial MT"/>
                <a:cs typeface="Arial MT"/>
              </a:rPr>
              <a:t>Language.</a:t>
            </a:r>
            <a:r>
              <a:rPr sz="2150" spc="-20" dirty="0">
                <a:latin typeface="Arial MT"/>
                <a:cs typeface="Arial MT"/>
              </a:rPr>
              <a:t>  </a:t>
            </a:r>
            <a:r>
              <a:rPr sz="2150" i="1" dirty="0">
                <a:latin typeface="Arial"/>
                <a:cs typeface="Arial"/>
              </a:rPr>
              <a:t>Folklore,</a:t>
            </a:r>
            <a:r>
              <a:rPr sz="2150" i="1" spc="-10" dirty="0">
                <a:latin typeface="Arial"/>
                <a:cs typeface="Arial"/>
              </a:rPr>
              <a:t>  Classics 	</a:t>
            </a:r>
            <a:r>
              <a:rPr sz="2150" i="1" dirty="0">
                <a:latin typeface="Arial"/>
                <a:cs typeface="Arial"/>
              </a:rPr>
              <a:t>and</a:t>
            </a:r>
            <a:r>
              <a:rPr sz="2150" i="1" spc="-100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Scripts,</a:t>
            </a:r>
            <a:r>
              <a:rPr sz="2150" i="1" spc="-85" dirty="0">
                <a:latin typeface="Arial"/>
                <a:cs typeface="Arial"/>
              </a:rPr>
              <a:t> </a:t>
            </a:r>
            <a:r>
              <a:rPr sz="2150" dirty="0">
                <a:latin typeface="Arial MT"/>
                <a:cs typeface="Arial MT"/>
              </a:rPr>
              <a:t>(2),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spc="-30" dirty="0">
                <a:latin typeface="Arial MT"/>
                <a:cs typeface="Arial MT"/>
              </a:rPr>
              <a:t>257-</a:t>
            </a:r>
            <a:r>
              <a:rPr sz="2150" spc="-20" dirty="0">
                <a:latin typeface="Arial MT"/>
                <a:cs typeface="Arial MT"/>
              </a:rPr>
              <a:t>272.</a:t>
            </a:r>
            <a:endParaRPr sz="2150">
              <a:latin typeface="Arial MT"/>
              <a:cs typeface="Arial MT"/>
            </a:endParaRPr>
          </a:p>
          <a:p>
            <a:pPr marL="314960" marR="7620" indent="-285750" algn="just">
              <a:lnSpc>
                <a:spcPts val="2540"/>
              </a:lnSpc>
              <a:spcBef>
                <a:spcPts val="60"/>
              </a:spcBef>
              <a:buAutoNum type="arabicPeriod"/>
              <a:tabLst>
                <a:tab pos="316230" algn="l"/>
              </a:tabLst>
            </a:pPr>
            <a:r>
              <a:rPr sz="2150" dirty="0">
                <a:latin typeface="Arial MT"/>
                <a:cs typeface="Arial MT"/>
              </a:rPr>
              <a:t>Guo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Xi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(2004).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On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"Hua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Yu".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i="1" spc="-10" dirty="0">
                <a:latin typeface="Arial"/>
                <a:cs typeface="Arial"/>
              </a:rPr>
              <a:t>Journal</a:t>
            </a:r>
            <a:r>
              <a:rPr sz="2150" i="1" spc="-65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of</a:t>
            </a:r>
            <a:r>
              <a:rPr sz="2150" i="1" spc="-100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the</a:t>
            </a:r>
            <a:r>
              <a:rPr sz="2150" i="1" spc="-70" dirty="0">
                <a:latin typeface="Arial"/>
                <a:cs typeface="Arial"/>
              </a:rPr>
              <a:t> </a:t>
            </a:r>
            <a:r>
              <a:rPr sz="2150" i="1" spc="-10" dirty="0">
                <a:latin typeface="Arial"/>
                <a:cs typeface="Arial"/>
              </a:rPr>
              <a:t>School 	</a:t>
            </a:r>
            <a:r>
              <a:rPr sz="2150" i="1" dirty="0">
                <a:latin typeface="Arial"/>
                <a:cs typeface="Arial"/>
              </a:rPr>
              <a:t>of</a:t>
            </a:r>
            <a:r>
              <a:rPr sz="2150" i="1" spc="-105" dirty="0">
                <a:latin typeface="Arial"/>
                <a:cs typeface="Arial"/>
              </a:rPr>
              <a:t> </a:t>
            </a:r>
            <a:r>
              <a:rPr sz="2150" i="1" spc="-10" dirty="0">
                <a:latin typeface="Arial"/>
                <a:cs typeface="Arial"/>
              </a:rPr>
              <a:t>Chinese</a:t>
            </a:r>
            <a:r>
              <a:rPr sz="2150" i="1" spc="-95" dirty="0">
                <a:latin typeface="Arial"/>
                <a:cs typeface="Arial"/>
              </a:rPr>
              <a:t> </a:t>
            </a:r>
            <a:r>
              <a:rPr sz="2150" i="1" spc="-20" dirty="0">
                <a:latin typeface="Arial"/>
                <a:cs typeface="Arial"/>
              </a:rPr>
              <a:t>Language</a:t>
            </a:r>
            <a:r>
              <a:rPr sz="2150" i="1" spc="-90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Jinan</a:t>
            </a:r>
            <a:r>
              <a:rPr sz="2150" i="1" spc="-65" dirty="0">
                <a:latin typeface="Arial"/>
                <a:cs typeface="Arial"/>
              </a:rPr>
              <a:t> </a:t>
            </a:r>
            <a:r>
              <a:rPr sz="2150" i="1" spc="-10" dirty="0">
                <a:latin typeface="Arial"/>
                <a:cs typeface="Arial"/>
              </a:rPr>
              <a:t>University</a:t>
            </a:r>
            <a:r>
              <a:rPr sz="2150" spc="-10" dirty="0">
                <a:latin typeface="Arial MT"/>
                <a:cs typeface="Arial MT"/>
              </a:rPr>
              <a:t>,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(2),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56-65.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12239" y="18671840"/>
            <a:ext cx="674878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dirty="0">
                <a:latin typeface="Arial"/>
                <a:cs typeface="Arial"/>
              </a:rPr>
              <a:t>Fig.</a:t>
            </a:r>
            <a:r>
              <a:rPr sz="1750" b="1" spc="-85" dirty="0">
                <a:latin typeface="Arial"/>
                <a:cs typeface="Arial"/>
              </a:rPr>
              <a:t> </a:t>
            </a:r>
            <a:r>
              <a:rPr sz="1750" b="1" dirty="0">
                <a:latin typeface="Arial"/>
                <a:cs typeface="Arial"/>
              </a:rPr>
              <a:t>1.</a:t>
            </a:r>
            <a:r>
              <a:rPr sz="1750" b="1" spc="-75" dirty="0">
                <a:latin typeface="Arial"/>
                <a:cs typeface="Arial"/>
              </a:rPr>
              <a:t> </a:t>
            </a:r>
            <a:r>
              <a:rPr sz="1750" spc="-10" dirty="0">
                <a:latin typeface="Arial MT"/>
                <a:cs typeface="Arial MT"/>
              </a:rPr>
              <a:t>Examples</a:t>
            </a:r>
            <a:r>
              <a:rPr sz="1750" spc="-7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of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Lexical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Differences</a:t>
            </a:r>
            <a:r>
              <a:rPr sz="1750" spc="-7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and</a:t>
            </a:r>
            <a:r>
              <a:rPr sz="1750" spc="-7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Their</a:t>
            </a:r>
            <a:r>
              <a:rPr sz="1750" spc="-7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Influencing</a:t>
            </a:r>
            <a:r>
              <a:rPr sz="1750" spc="-7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Factors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94210" y="412139"/>
            <a:ext cx="4590014" cy="41934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i="1" dirty="0">
                <a:solidFill>
                  <a:schemeClr val="bg1"/>
                </a:solidFill>
                <a:latin typeface="Arial"/>
                <a:cs typeface="Arial"/>
              </a:rPr>
              <a:t>UM</a:t>
            </a:r>
            <a:r>
              <a:rPr sz="2650" i="1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chemeClr val="bg1"/>
                </a:solidFill>
                <a:latin typeface="Arial"/>
                <a:cs typeface="Arial"/>
              </a:rPr>
              <a:t>iFEST</a:t>
            </a:r>
            <a:r>
              <a:rPr sz="265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chemeClr val="bg1"/>
                </a:solidFill>
                <a:latin typeface="Arial"/>
                <a:cs typeface="Arial"/>
              </a:rPr>
              <a:t>2026</a:t>
            </a:r>
            <a:r>
              <a:rPr sz="265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chemeClr val="bg1"/>
                </a:solidFill>
                <a:latin typeface="Arial"/>
                <a:cs typeface="Arial"/>
              </a:rPr>
              <a:t>-</a:t>
            </a:r>
            <a:r>
              <a:rPr sz="2650" i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MY" sz="2650" i="1" dirty="0">
                <a:solidFill>
                  <a:schemeClr val="bg1"/>
                </a:solidFill>
              </a:rPr>
              <a:t>ST-AI-0122</a:t>
            </a:r>
            <a:endParaRPr sz="2650" i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23096" y="0"/>
            <a:ext cx="4485149" cy="22526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472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MT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Yap Zhe Cheng</cp:lastModifiedBy>
  <cp:revision>1</cp:revision>
  <dcterms:created xsi:type="dcterms:W3CDTF">2026-05-30T08:03:31Z</dcterms:created>
  <dcterms:modified xsi:type="dcterms:W3CDTF">2026-05-30T15:02:41Z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2026-05-30T00:00:00Z</vt:filetime>
  </property>
  <property fmtid="{D5CDD505-2E9C-101B-9397-08002B2CF9AE}" pid="4" name="LastSaved">
    <vt:filetime>2026-05-30T00:00:00Z</vt:filetime>
  </property>
</Properties>
</file>